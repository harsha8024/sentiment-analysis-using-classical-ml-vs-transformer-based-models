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orsiva"/>
      <p:regular r:id="rId18"/>
      <p:bold r:id="rId19"/>
      <p:italic r:id="rId20"/>
      <p:boldItalic r:id="rId21"/>
    </p:embeddedFont>
    <p:embeddedFont>
      <p:font typeface="Average"/>
      <p:regular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siva-italic.fntdata"/><Relationship Id="rId11" Type="http://schemas.openxmlformats.org/officeDocument/2006/relationships/slide" Target="slides/slide6.xml"/><Relationship Id="rId22" Type="http://schemas.openxmlformats.org/officeDocument/2006/relationships/font" Target="fonts/Average-regular.fntdata"/><Relationship Id="rId10" Type="http://schemas.openxmlformats.org/officeDocument/2006/relationships/slide" Target="slides/slide5.xml"/><Relationship Id="rId21" Type="http://schemas.openxmlformats.org/officeDocument/2006/relationships/font" Target="fonts/Corsiva-boldItalic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rsiva-bold.fntdata"/><Relationship Id="rId6" Type="http://schemas.openxmlformats.org/officeDocument/2006/relationships/slide" Target="slides/slide1.xml"/><Relationship Id="rId18" Type="http://schemas.openxmlformats.org/officeDocument/2006/relationships/font" Target="fonts/Corsi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9ab27c232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a9ab27c232_1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ab27c232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ab27c232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9ab27c232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9ab27c232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9ab27c232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9ab27c232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9ab27c232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9ab27c232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ab27c232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ab27c232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ab27c232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ab27c232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ab27c232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ab27c232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9ab27c232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9ab27c232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ab27c232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ab27c232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ab27c232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ab27c232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ab27c232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ab27c232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harsha8024/Sentiment-Analysis-using-Classical-ML-vs-Transformer-based-Model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6346" y="710407"/>
            <a:ext cx="91440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BMS COLLEGE OF ENGINEERING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(Autonomous Institute, Affiliated to VTU, Belagavi)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MACHINE 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(UG Program: B.E. in Artificial Intelligence and Machine Learning) </a:t>
            </a:r>
            <a:endParaRPr b="0" i="0" sz="1100" u="none" cap="none" strike="noStrike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E:\BMSCE\dept_name_print_for_files\college_logo.jpeg"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1969" y="221456"/>
            <a:ext cx="503277" cy="4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256396" y="1909374"/>
            <a:ext cx="9137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: </a:t>
            </a:r>
            <a:r>
              <a:rPr b="1" lang="en" sz="2100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for LLM</a:t>
            </a:r>
            <a:endParaRPr b="1" i="0" sz="2100" u="none" cap="none" strike="noStrike">
              <a:solidFill>
                <a:srgbClr val="0048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 </a:t>
            </a:r>
            <a:r>
              <a:rPr b="1" lang="en" sz="2100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24AM7PCLLM</a:t>
            </a:r>
            <a:endParaRPr b="1" i="0" sz="2100" u="none" cap="none" strike="noStrike">
              <a:solidFill>
                <a:srgbClr val="0048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337399" y="3827478"/>
            <a:ext cx="2609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Faculty In-Charge: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 Sowmya Lakshmi BS</a:t>
            </a:r>
            <a:r>
              <a:rPr b="1" i="0" lang="en" sz="1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Department of Machine Learning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BMS College of Engineering</a:t>
            </a:r>
            <a:endParaRPr b="0" i="0" sz="9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707362" y="3827475"/>
            <a:ext cx="30738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Student Name &amp; USN : </a:t>
            </a:r>
            <a:endParaRPr b="0"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Harsha Swaroop 1BM22AI054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Diksha CR 1BM22AI046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761" y="2788418"/>
            <a:ext cx="91377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using a Transformer-Based Model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447000" y="3585081"/>
            <a:ext cx="225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674EA7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" sz="1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25-11-2025</a:t>
            </a:r>
            <a:endParaRPr b="1" i="0" sz="1300" u="none" cap="none" strike="noStrike">
              <a:solidFill>
                <a:srgbClr val="0000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543450" y="4092975"/>
            <a:ext cx="205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Semester &amp; Section: 7A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152475"/>
            <a:ext cx="87237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(NLP) to classify text as Positive or Negative.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Utilizes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faster and lighter Transformer model derived from BERT.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Self-Attention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context and word relationships, going beyond simple keyword matching.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 a high-precision system for analyzing movie reviews that outperforms classical machine learning.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⚙️ Build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(Implementation): Design and fine-tune a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for binary sentiment classification on the IMDB dataset.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🧹 Clean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(Optimization): Preprocess raw text data to ensure compatibility with Transformer architecture.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Measure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(Evaluation): Assess model performance using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Accuracy, Precision, Recall, and F1-Score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🚀 Apply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(Application): Analyze the model's contextual understanding and demonstrate its potential for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opinion mining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Real-Time Application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Manual analysis of thousands of reviews is slow, biased, and inefficient.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Automated, real-time sentiment classification using AI.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Use Cases: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(Netflix/Prime):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viewer reaction to adjust content strategy.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E-Commerce: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Summarize product feedback to detect quality issues.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Monitor brand reputation and public sentiment spikes.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Support: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Auto-escalate negative feedback to human agents.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DistilBERT (A lighter, faster version of BERT).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Components: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Tokenizer: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Splits text into subwords; adds </a:t>
            </a:r>
            <a:r>
              <a:rPr lang="en" sz="1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[CLS]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(start) and </a:t>
            </a:r>
            <a:r>
              <a:rPr lang="en" sz="1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[SEP]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(end) tokens.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Embeddings: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word meaning with position information.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 Transformer layers using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Self-Attention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context.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Head: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Final layer that outputs probabilities for "Positive" vs. "Negative".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175" y="395125"/>
            <a:ext cx="59436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3420950" y="4434675"/>
            <a:ext cx="3926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1.1 System Architecture</a:t>
            </a:r>
            <a:endParaRPr sz="11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lang="en" sz="14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IMDB Movie Reviews (50,000 samples; 25k Train / 25k Test).</a:t>
            </a:r>
            <a:endParaRPr sz="14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endParaRPr b="1" sz="14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579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8"/>
              <a:buFont typeface="Times New Roman"/>
              <a:buChar char="●"/>
            </a:pPr>
            <a:r>
              <a:rPr lang="en" sz="14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Tokenization &amp; Padding (Max length: 256 tokens).</a:t>
            </a:r>
            <a:endParaRPr sz="14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57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8"/>
              <a:buFont typeface="Times New Roman"/>
              <a:buChar char="●"/>
            </a:pPr>
            <a:r>
              <a:rPr lang="en" sz="14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of Attention Masks.</a:t>
            </a:r>
            <a:endParaRPr sz="14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Strategy: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Fine-tuning a pre-trained DistilBERT model.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AdamW (Adaptive Moment Estimation).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Function: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Cross-Entropy Loss.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Implementation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Python, Hugging Face Transformers, PyTorch.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API: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Fetch </a:t>
            </a:r>
            <a:r>
              <a:rPr lang="en" sz="1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distilbert-base-uncased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Hugging Face.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Data: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 text to Input IDs and Attention Masks.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 on IMDB data (Batch size: 16, Learning Rate: 2e-5).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predicts sentiment label for unseen reviews.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Repository: </a:t>
            </a:r>
            <a:r>
              <a:rPr lang="en" sz="1291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 AAT Repo</a:t>
            </a:r>
            <a:endParaRPr sz="89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&amp;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Observed Performance: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(Negative):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1.00 (Perfect identification of negatives).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(Positive):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0.00 (Failed to identify positives).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~53%.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exhibited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bias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defaulting to "Negative" predictions.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Cause: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Insufficient training epochs (1 epoch) prevented the model from learning complex positive patterns.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00" y="36925"/>
            <a:ext cx="4048123" cy="316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1275" y="3316300"/>
            <a:ext cx="485775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/>
        </p:nvSpPr>
        <p:spPr>
          <a:xfrm>
            <a:off x="293150" y="3263025"/>
            <a:ext cx="373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1.2 Confusion matrix showing performance of </a:t>
            </a:r>
            <a:r>
              <a:rPr lang="en" sz="1100">
                <a:solidFill>
                  <a:schemeClr val="accent3"/>
                </a:solidFill>
                <a:latin typeface="Times"/>
                <a:ea typeface="Times"/>
                <a:cs typeface="Times"/>
                <a:sym typeface="Times"/>
              </a:rPr>
              <a:t>DistilBERT</a:t>
            </a:r>
            <a:endParaRPr sz="10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331425" y="290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1.3 Classification report of DistilBERT</a:t>
            </a:r>
            <a:endParaRPr sz="10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2186100" y="1632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200">
                <a:solidFill>
                  <a:schemeClr val="dk1"/>
                </a:solidFill>
              </a:rPr>
              <a:t>Thank You!</a:t>
            </a:r>
            <a:endParaRPr sz="7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